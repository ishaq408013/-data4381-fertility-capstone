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46304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Analyzing Regional Differences in Fertility Rates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157984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6F3EF"/>
                </a:solidFill>
              </a:rPr>
              <a:t>Using WHO Global Health Indicators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416052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Angela R.  •  Dat D.  •  Ishaq A.  •  Oluwateniola 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457200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5"/>
                </a:solidFill>
              </a:rPr>
              <a:t>DATA4381 Data Capstone Project 1  |  10/7/2026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Overview and Motivation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3"/>
                </a:solidFill>
              </a:rPr>
              <a:t>Why regional fertility differences matter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5349240" cy="4480560"/>
          </a:xfrm>
          <a:prstGeom prst="roundRect">
            <a:avLst/>
          </a:prstGeom>
          <a:solidFill>
            <a:srgbClr val="E9F3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63640" y="1234440"/>
            <a:ext cx="5349240" cy="4480560"/>
          </a:xfrm>
          <a:prstGeom prst="roundRect">
            <a:avLst/>
          </a:prstGeom>
          <a:solidFill>
            <a:srgbClr val="EAF7F4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813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Problem we are solving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901952"/>
            <a:ext cx="470916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Fertility rates vary widely across world regions and income levels.
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Health and socioeconomic factors may explain why some regions have higher or lower fertility.
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A data science model can identify patterns that are hard to see from single indicators alone.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14813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Why it matters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7960" y="1901952"/>
            <a:ext cx="470916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Fertility shapes future population size, health-system demand, education planning, and workforce needs.
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Life expectancy is a key health feature because it summarizes overall population health and living conditions.
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Results can support public-health researchers, planners, and policy analysts with regional evidence.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Background and Previous Work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3"/>
                </a:solidFill>
              </a:rPr>
              <a:t>What prior studies do — and how our project extends them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10972800" cy="713232"/>
          </a:xfrm>
          <a:prstGeom prst="roundRect">
            <a:avLst>
              <a:gd name="adj" fmla="val 7692"/>
            </a:avLst>
          </a:prstGeom>
          <a:solidFill>
            <a:srgbClr val="E9F3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3807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</a:rPr>
              <a:t>Global fertility trends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840480" y="138074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Shows large-scale fertility changes and regional differences over time.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167128"/>
            <a:ext cx="10972800" cy="713232"/>
          </a:xfrm>
          <a:prstGeom prst="roundRect">
            <a:avLst>
              <a:gd name="adj" fmla="val 7692"/>
            </a:avLst>
          </a:prstGeom>
          <a:solidFill>
            <a:srgbClr val="EAF7F4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313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</a:rPr>
              <a:t>Predictive fertility models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840480" y="231343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Uses statistical / machine-learning methods to predict fertility outcomes.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099816"/>
            <a:ext cx="10972800" cy="713232"/>
          </a:xfrm>
          <a:prstGeom prst="roundRect">
            <a:avLst>
              <a:gd name="adj" fmla="val 7692"/>
            </a:avLst>
          </a:prstGeom>
          <a:solidFill>
            <a:srgbClr val="E9F3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</a:rPr>
              <a:t>Birth-rate forecasting in Scotland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840480" y="324612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Focuses on a specific country context and short-term forecasting.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032504"/>
            <a:ext cx="10972800" cy="713232"/>
          </a:xfrm>
          <a:prstGeom prst="roundRect">
            <a:avLst>
              <a:gd name="adj" fmla="val 7692"/>
            </a:avLst>
          </a:prstGeom>
          <a:solidFill>
            <a:srgbClr val="EAF7F4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4178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</a:rPr>
              <a:t>Fertility classification in Ethiopia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840480" y="417880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Uses classification methods for one-country fertility patterns.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77240" y="5193792"/>
            <a:ext cx="1069848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F2937"/>
                </a:solidFill>
              </a:rPr>
              <a:t>Connection to our project: prior work studies fertility trends or prediction, but none of these exactly combines global 2000–2024 country-year data, regional comparisons, fertility prediction, life-expectancy prediction, feature importance, and simulation planning in one pipeline.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502920" y="6556248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Sources: PMCID links provided by team: PMC11122687; PMC3367999; PMC11276648; PMC11756417.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Gap / Project Opportunity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3"/>
                </a:solidFill>
              </a:rPr>
              <a:t>The opportunity is not just prediction — it is regional interpretation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5349240" cy="4480560"/>
          </a:xfrm>
          <a:prstGeom prst="roundRect">
            <a:avLst/>
          </a:prstGeom>
          <a:solidFill>
            <a:srgbClr val="E9F3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63640" y="1234440"/>
            <a:ext cx="5349240" cy="4480560"/>
          </a:xfrm>
          <a:prstGeom prst="roundRect">
            <a:avLst/>
          </a:prstGeom>
          <a:solidFill>
            <a:srgbClr val="EAF7F4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813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What is still missing?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901952"/>
            <a:ext cx="470916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Many studies focus on global totals or one country rather than comparing regions side-by-side.
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Some work predicts fertility, but often without clear regional error analysis or feature interpretation.
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Fewer projects connect fertility with life expectancy as a main health feature over 2000–2024.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14813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Our project addresses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7960" y="1901952"/>
            <a:ext cx="470916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Regional fertility and life-expectancy trends across 211 countries.
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Predictive models with a clear baseline and validation strategy.
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Feature-importance analysis to identify the strongest health and socioeconomic indicators.
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A future simulation framework for country-level scenario analysis.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Questions and Project Objectives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3"/>
                </a:solidFill>
              </a:rPr>
              <a:t>Specific and achievable across Capstone I and II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2880360" cy="594360"/>
          </a:xfrm>
          <a:prstGeom prst="roundRect">
            <a:avLst>
              <a:gd name="adj" fmla="val 7692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0759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Predict fertility rate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584448" y="1143000"/>
            <a:ext cx="8046720" cy="594360"/>
          </a:xfrm>
          <a:prstGeom prst="roundRect">
            <a:avLst>
              <a:gd name="adj" fmla="val 7692"/>
            </a:avLst>
          </a:prstGeom>
          <a:solidFill>
            <a:srgbClr val="E9F3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94760" y="1289304"/>
            <a:ext cx="754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F2937"/>
                </a:solidFill>
              </a:rPr>
              <a:t>Build baseline and advanced regression models using health + socioeconomic features.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548640" y="2039112"/>
            <a:ext cx="2880360" cy="594360"/>
          </a:xfrm>
          <a:prstGeom prst="roundRect">
            <a:avLst>
              <a:gd name="adj" fmla="val 7692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20370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Predict life expectancy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584448" y="2039112"/>
            <a:ext cx="8046720" cy="594360"/>
          </a:xfrm>
          <a:prstGeom prst="roundRect">
            <a:avLst>
              <a:gd name="adj" fmla="val 7692"/>
            </a:avLst>
          </a:prstGeom>
          <a:solidFill>
            <a:srgbClr val="EAF7F4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2185416"/>
            <a:ext cx="754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F2937"/>
                </a:solidFill>
              </a:rPr>
              <a:t>Create a second prediction target to compare health-system patterns.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48640" y="2935224"/>
            <a:ext cx="2880360" cy="594360"/>
          </a:xfrm>
          <a:prstGeom prst="roundRect">
            <a:avLst>
              <a:gd name="adj" fmla="val 7692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09981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Find important features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584448" y="2935224"/>
            <a:ext cx="8046720" cy="594360"/>
          </a:xfrm>
          <a:prstGeom prst="roundRect">
            <a:avLst>
              <a:gd name="adj" fmla="val 7692"/>
            </a:avLst>
          </a:prstGeom>
          <a:solidFill>
            <a:srgbClr val="E9F3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94760" y="3081528"/>
            <a:ext cx="754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F2937"/>
                </a:solidFill>
              </a:rPr>
              <a:t>Use correlations, coefficients, and feature importance to identify key drivers.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548640" y="3831336"/>
            <a:ext cx="2880360" cy="594360"/>
          </a:xfrm>
          <a:prstGeom prst="roundRect">
            <a:avLst>
              <a:gd name="adj" fmla="val 7692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9959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Simulation model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584448" y="3831336"/>
            <a:ext cx="8046720" cy="594360"/>
          </a:xfrm>
          <a:prstGeom prst="roundRect">
            <a:avLst>
              <a:gd name="adj" fmla="val 7692"/>
            </a:avLst>
          </a:prstGeom>
          <a:solidFill>
            <a:srgbClr val="EAF7F4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94760" y="3977640"/>
            <a:ext cx="754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F2937"/>
                </a:solidFill>
              </a:rPr>
              <a:t>Estimate how changes in key predictors may shift predicted fertility.</a:t>
            </a:r>
            <a:endParaRPr lang="en-US" sz="1280" dirty="0"/>
          </a:p>
        </p:txBody>
      </p:sp>
      <p:sp>
        <p:nvSpPr>
          <p:cNvPr id="21" name="Shape 19"/>
          <p:cNvSpPr/>
          <p:nvPr/>
        </p:nvSpPr>
        <p:spPr>
          <a:xfrm>
            <a:off x="548640" y="4727448"/>
            <a:ext cx="2880360" cy="594360"/>
          </a:xfrm>
          <a:prstGeom prst="roundRect">
            <a:avLst>
              <a:gd name="adj" fmla="val 7692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4892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Country-level planning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584448" y="4727448"/>
            <a:ext cx="8046720" cy="594360"/>
          </a:xfrm>
          <a:prstGeom prst="roundRect">
            <a:avLst>
              <a:gd name="adj" fmla="val 7692"/>
            </a:avLst>
          </a:prstGeom>
          <a:solidFill>
            <a:srgbClr val="E9F3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94760" y="4873752"/>
            <a:ext cx="754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F2937"/>
                </a:solidFill>
              </a:rPr>
              <a:t>Group countries by fertility pattern and regional context for decision support.</a:t>
            </a:r>
            <a:endParaRPr lang="en-US" sz="1280" dirty="0"/>
          </a:p>
        </p:txBody>
      </p:sp>
      <p:sp>
        <p:nvSpPr>
          <p:cNvPr id="25" name="Text 23"/>
          <p:cNvSpPr/>
          <p:nvPr/>
        </p:nvSpPr>
        <p:spPr>
          <a:xfrm>
            <a:off x="658368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673"/>
                </a:solidFill>
              </a:rPr>
              <a:t>Capstone I focus: data cleaning, EDA, baseline models, initial feature analysis.  Capstone II focus: tuning, validation, simulation, country profiles, dashboard/report.</a:t>
            </a:r>
            <a:endParaRPr lang="en-US" sz="11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Overview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3"/>
                </a:solidFill>
              </a:rPr>
              <a:t>Global Health Indicators, 2000–2024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2F80ED">
              <a:alpha val="96000"/>
            </a:srgbClr>
          </a:solidFill>
          <a:ln w="12700">
            <a:solidFill>
              <a:srgbClr val="2F80ED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252728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5,275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3232" y="1581912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country-year observations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14600" y="1143000"/>
            <a:ext cx="1325880" cy="777240"/>
          </a:xfrm>
          <a:prstGeom prst="roundRect">
            <a:avLst>
              <a:gd name="adj" fmla="val 9412"/>
            </a:avLst>
          </a:prstGeom>
          <a:solidFill>
            <a:srgbClr val="2A9D8F">
              <a:alpha val="96000"/>
            </a:srgbClr>
          </a:solidFill>
          <a:ln w="12700">
            <a:solidFill>
              <a:srgbClr val="2A9D8F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87752" y="1252728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211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587752" y="1581912"/>
            <a:ext cx="1179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countries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069080" y="1143000"/>
            <a:ext cx="1143000" cy="777240"/>
          </a:xfrm>
          <a:prstGeom prst="roundRect">
            <a:avLst>
              <a:gd name="adj" fmla="val 9412"/>
            </a:avLst>
          </a:prstGeom>
          <a:solidFill>
            <a:srgbClr val="6FA88C">
              <a:alpha val="96000"/>
            </a:srgbClr>
          </a:solidFill>
          <a:ln w="12700">
            <a:solidFill>
              <a:srgbClr val="6FA88C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42232" y="1252728"/>
            <a:ext cx="996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25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42232" y="1581912"/>
            <a:ext cx="996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years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40680" y="1143000"/>
            <a:ext cx="1143000" cy="777240"/>
          </a:xfrm>
          <a:prstGeom prst="roundRect">
            <a:avLst>
              <a:gd name="adj" fmla="val 9412"/>
            </a:avLst>
          </a:prstGeom>
          <a:solidFill>
            <a:srgbClr val="F4A261">
              <a:alpha val="96000"/>
            </a:srgbClr>
          </a:solidFill>
          <a:ln w="12700">
            <a:solidFill>
              <a:srgbClr val="F4A261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13832" y="1252728"/>
            <a:ext cx="996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48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513832" y="1581912"/>
            <a:ext cx="996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columns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85800" y="2176272"/>
            <a:ext cx="530352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Unit of observation: one country in one year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Target variables: fertility_rate and life_expectancy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Feature types: health, demographics, income level, region, healthcare resources, mortality, sanitation, immunization, GDP, poverty, and urbanization</a:t>
            </a:r>
            <a:endParaRPr lang="en-US" sz="1450" dirty="0"/>
          </a:p>
        </p:txBody>
      </p:sp>
      <p:pic>
        <p:nvPicPr>
          <p:cNvPr id="18" name="Image 0" descr="/mnt/data/fertility_ppt_assets/dataset_sam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9632" y="2459290"/>
            <a:ext cx="5349240" cy="1290196"/>
          </a:xfrm>
          <a:prstGeom prst="rect">
            <a:avLst/>
          </a:prstGeom>
        </p:spPr>
      </p:pic>
      <p:pic>
        <p:nvPicPr>
          <p:cNvPr id="19" name="Image 1" descr="/mnt/data/fertility_final_assets/obs_by_reg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4617720"/>
            <a:ext cx="2880360" cy="16002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02920" y="6556248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Dataset source: Health Indicators Dataset for Forecasting (WHO) on Kaggle; file used: health_indicators.csv.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Understanding and Initial Exploration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3"/>
                </a:solidFill>
              </a:rPr>
              <a:t>Initial patterns: fertility and life expectancy differ by region and income</a:t>
            </a:r>
            <a:endParaRPr lang="en-US" sz="1050" dirty="0"/>
          </a:p>
        </p:txBody>
      </p:sp>
      <p:pic>
        <p:nvPicPr>
          <p:cNvPr id="5" name="Image 0" descr="/mnt/data/fertility_ppt_assets/fertility_by_reg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6068" y="1051560"/>
            <a:ext cx="3962400" cy="2377440"/>
          </a:xfrm>
          <a:prstGeom prst="rect">
            <a:avLst/>
          </a:prstGeom>
        </p:spPr>
      </p:pic>
      <p:pic>
        <p:nvPicPr>
          <p:cNvPr id="6" name="Image 1" descr="/mnt/data/fertility_ppt_assets/life_by_reg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1924" y="1051560"/>
            <a:ext cx="3962400" cy="2377440"/>
          </a:xfrm>
          <a:prstGeom prst="rect">
            <a:avLst/>
          </a:prstGeom>
        </p:spPr>
      </p:pic>
      <p:pic>
        <p:nvPicPr>
          <p:cNvPr id="7" name="Image 2" descr="/mnt/data/fertility_ppt_assets/fertility_by_inco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64" y="3767328"/>
            <a:ext cx="3877408" cy="2240280"/>
          </a:xfrm>
          <a:prstGeom prst="rect">
            <a:avLst/>
          </a:prstGeom>
        </p:spPr>
      </p:pic>
      <p:pic>
        <p:nvPicPr>
          <p:cNvPr id="8" name="Image 3" descr="/mnt/data/fertility_ppt_assets/life_by_incom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420" y="3767328"/>
            <a:ext cx="3877408" cy="2240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Methodology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3"/>
                </a:solidFill>
              </a:rPr>
              <a:t>From raw data to validated models and interpretation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23444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E9F3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9903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16736" y="13990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</a:rPr>
              <a:t>Clean + validate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316736" y="178308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Check columns, years, countries, duplicates, missingness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53128" y="123444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E9F3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39903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11496" y="13990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</a:rPr>
              <a:t>EDA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111496" y="178308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Fertility and life expectancy trends by region/income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47888" y="123444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E9F3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139903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906256" y="13990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</a:rPr>
              <a:t>Preprocess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906256" y="178308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Impute missing data, encode categories, scale linear models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8368" y="324612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EAF7F4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41071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16736" y="34107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</a:rPr>
              <a:t>Model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316736" y="379476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Mean baseline, Linear/Ridge, Random Forest, Gradient Boosting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453128" y="324612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EAF7F4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341071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111496" y="34107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</a:rPr>
              <a:t>Validate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5111496" y="379476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Time holdout and GroupKFold by country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47888" y="324612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EAF7F4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0" y="341071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906256" y="34107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</a:rPr>
              <a:t>Interpret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8906256" y="379476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Feature importance, regional error, simulation planning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77240" y="5715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B6673"/>
                </a:solidFill>
              </a:rPr>
              <a:t>Reasoning: because the same countries repeat across years, evaluation must avoid leakage and test whether the model generalizes across time and countries.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Objective-to-Method Connection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3"/>
                </a:solidFill>
              </a:rPr>
              <a:t>Every objective has a dataset, method, and output</a:t>
            </a:r>
            <a:endParaRPr lang="en-US" sz="1050" dirty="0"/>
          </a:p>
        </p:txBody>
      </p:sp>
      <p:pic>
        <p:nvPicPr>
          <p:cNvPr id="5" name="Image 0" descr="/mnt/data/fertility_final_assets/objective_method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26579"/>
            <a:ext cx="11064240" cy="38219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556248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Note: model outputs are preliminary for Capstone I; simulation and dashboard are Capstone II deliverables.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Baseline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3"/>
                </a:solidFill>
              </a:rPr>
              <a:t>The simplest benchmark and why we need it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5349240" cy="4480560"/>
          </a:xfrm>
          <a:prstGeom prst="roundRect">
            <a:avLst/>
          </a:prstGeom>
          <a:solidFill>
            <a:srgbClr val="E9F3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63640" y="1234440"/>
            <a:ext cx="5349240" cy="4480560"/>
          </a:xfrm>
          <a:prstGeom prst="roundRect">
            <a:avLst/>
          </a:prstGeom>
          <a:solidFill>
            <a:srgbClr val="EAF7F4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813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Baseline model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901952"/>
            <a:ext cx="470916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Mean Baseline predicts the average training-set fertility rate for every future observation.
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It gives the minimum benchmark that all useful models should beat.
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Linear Regression is added as an interpretable baseline.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14813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Comparison models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7960" y="1901952"/>
            <a:ext cx="470916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Ridge Regression reduces instability from correlated predictors.
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Random Forest captures nonlinear patterns and interactions.
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Gradient Boosting tests another nonlinear ensemble approach.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920240" y="57150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9D8F"/>
                </a:solidFill>
              </a:rPr>
              <a:t>Training/testing plan: train on 2000–2019 → test on 2020–2024.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and Definition of Success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3"/>
                </a:solidFill>
              </a:rPr>
              <a:t>Metrics match the regression problem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1874520" cy="594360"/>
          </a:xfrm>
          <a:prstGeom prst="roundRect">
            <a:avLst>
              <a:gd name="adj" fmla="val 9231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0759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88920" y="1143000"/>
            <a:ext cx="8503920" cy="594360"/>
          </a:xfrm>
          <a:prstGeom prst="roundRect">
            <a:avLst>
              <a:gd name="adj" fmla="val 9231"/>
            </a:avLst>
          </a:prstGeom>
          <a:solidFill>
            <a:srgbClr val="F7F9FC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128930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Average error in births per woman; easiest to explain.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" y="2057400"/>
            <a:ext cx="1874520" cy="594360"/>
          </a:xfrm>
          <a:prstGeom prst="roundRect">
            <a:avLst>
              <a:gd name="adj" fmla="val 9231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2199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RMSE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88920" y="2057400"/>
            <a:ext cx="8503920" cy="594360"/>
          </a:xfrm>
          <a:prstGeom prst="roundRect">
            <a:avLst>
              <a:gd name="adj" fmla="val 9231"/>
            </a:avLst>
          </a:prstGeom>
          <a:solidFill>
            <a:srgbClr val="F7F9FC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1800" y="220370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Penalizes large prediction errors more strongly.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2971800"/>
            <a:ext cx="1874520" cy="594360"/>
          </a:xfrm>
          <a:prstGeom prst="roundRect">
            <a:avLst>
              <a:gd name="adj" fmla="val 9231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13639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R²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88920" y="2971800"/>
            <a:ext cx="8503920" cy="594360"/>
          </a:xfrm>
          <a:prstGeom prst="roundRect">
            <a:avLst>
              <a:gd name="adj" fmla="val 9231"/>
            </a:avLst>
          </a:prstGeom>
          <a:solidFill>
            <a:srgbClr val="F7F9FC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71800" y="311810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How much variation in fertility the model explains.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3886200"/>
            <a:ext cx="1874520" cy="594360"/>
          </a:xfrm>
          <a:prstGeom prst="roundRect">
            <a:avLst>
              <a:gd name="adj" fmla="val 9231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05079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GroupKFold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88920" y="3886200"/>
            <a:ext cx="8503920" cy="594360"/>
          </a:xfrm>
          <a:prstGeom prst="roundRect">
            <a:avLst>
              <a:gd name="adj" fmla="val 9231"/>
            </a:avLst>
          </a:prstGeom>
          <a:solidFill>
            <a:srgbClr val="F7F9FC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403250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Tests performance when entire countries are held out.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22960" y="5303520"/>
            <a:ext cx="104241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7324D"/>
                </a:solidFill>
              </a:rPr>
              <a:t>Definition of success: the final model should clearly outperform the mean baseline on MAE/RMSE, maintain positive R², and remain stable under time-based and country-level validation.</a:t>
            </a:r>
            <a:endParaRPr lang="en-US" sz="14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Preliminary / Baseline Results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3"/>
                </a:solidFill>
              </a:rPr>
              <a:t>Current model outputs from the correct 2000–2024 dataset</a:t>
            </a:r>
            <a:endParaRPr lang="en-US" sz="1050" dirty="0"/>
          </a:p>
        </p:txBody>
      </p:sp>
      <p:pic>
        <p:nvPicPr>
          <p:cNvPr id="5" name="Image 0" descr="/mnt/data/fertility_ppt_assets/model_results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7189"/>
            <a:ext cx="5394960" cy="1632446"/>
          </a:xfrm>
          <a:prstGeom prst="rect">
            <a:avLst/>
          </a:prstGeom>
        </p:spPr>
      </p:pic>
      <p:pic>
        <p:nvPicPr>
          <p:cNvPr id="6" name="Image 1" descr="/mnt/data/fertility_ppt_assets/model_comparis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564" y="987552"/>
            <a:ext cx="4197096" cy="2331720"/>
          </a:xfrm>
          <a:prstGeom prst="rect">
            <a:avLst/>
          </a:prstGeom>
        </p:spPr>
      </p:pic>
      <p:pic>
        <p:nvPicPr>
          <p:cNvPr id="7" name="Image 2" descr="/mnt/data/fertility_ppt_assets/cv_results_tab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731045"/>
            <a:ext cx="5074920" cy="1535606"/>
          </a:xfrm>
          <a:prstGeom prst="rect">
            <a:avLst/>
          </a:prstGeom>
        </p:spPr>
      </p:pic>
      <p:pic>
        <p:nvPicPr>
          <p:cNvPr id="8" name="Image 3" descr="/mnt/data/fertility_ppt_assets/feature_importan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6902" y="3584448"/>
            <a:ext cx="3360420" cy="224028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49808" y="587044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Preliminary conclusion: Random Forest produced the strongest fertility-rate prediction in the current test, but results will be refined in Capstone II with additional validation and interpretation.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Challenges and Proposed Solutions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3"/>
                </a:solidFill>
              </a:rPr>
              <a:t>Known risks and how we will address them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051560"/>
            <a:ext cx="2926080" cy="566928"/>
          </a:xfrm>
          <a:prstGeom prst="roundRect">
            <a:avLst>
              <a:gd name="adj" fmla="val 8065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21615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Missing values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749040" y="1051560"/>
            <a:ext cx="7726680" cy="566928"/>
          </a:xfrm>
          <a:prstGeom prst="roundRect">
            <a:avLst>
              <a:gd name="adj" fmla="val 8065"/>
            </a:avLst>
          </a:prstGeom>
          <a:solidFill>
            <a:srgbClr val="E9F3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50208" y="119786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</a:rPr>
              <a:t>Region-aware imputation, removal rules, sensitivity checks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685800" y="1920240"/>
            <a:ext cx="2926080" cy="566928"/>
          </a:xfrm>
          <a:prstGeom prst="roundRect">
            <a:avLst>
              <a:gd name="adj" fmla="val 8065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08483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Regional differences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749040" y="1920240"/>
            <a:ext cx="7726680" cy="566928"/>
          </a:xfrm>
          <a:prstGeom prst="roundRect">
            <a:avLst>
              <a:gd name="adj" fmla="val 8065"/>
            </a:avLst>
          </a:prstGeom>
          <a:solidFill>
            <a:srgbClr val="EAF7F4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50208" y="206654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</a:rPr>
              <a:t>Analyze regions separately and compare model errors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685800" y="2788920"/>
            <a:ext cx="2926080" cy="566928"/>
          </a:xfrm>
          <a:prstGeom prst="roundRect">
            <a:avLst>
              <a:gd name="adj" fmla="val 8065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95351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Multicollinearity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749040" y="2788920"/>
            <a:ext cx="7726680" cy="566928"/>
          </a:xfrm>
          <a:prstGeom prst="roundRect">
            <a:avLst>
              <a:gd name="adj" fmla="val 8065"/>
            </a:avLst>
          </a:prstGeom>
          <a:solidFill>
            <a:srgbClr val="E9F3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0208" y="293522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</a:rPr>
              <a:t>Correlation heatmap, VIF, Ridge/Lasso-style regularization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685800" y="3657600"/>
            <a:ext cx="2926080" cy="566928"/>
          </a:xfrm>
          <a:prstGeom prst="roundRect">
            <a:avLst>
              <a:gd name="adj" fmla="val 8065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82219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Data leakage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749040" y="3657600"/>
            <a:ext cx="7726680" cy="566928"/>
          </a:xfrm>
          <a:prstGeom prst="roundRect">
            <a:avLst>
              <a:gd name="adj" fmla="val 8065"/>
            </a:avLst>
          </a:prstGeom>
          <a:solidFill>
            <a:srgbClr val="EAF7F4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50208" y="380390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</a:rPr>
              <a:t>Feature screening; exclude direct fertility proxies; time-based split</a:t>
            </a:r>
            <a:endParaRPr lang="en-US" sz="1230" dirty="0"/>
          </a:p>
        </p:txBody>
      </p:sp>
      <p:sp>
        <p:nvSpPr>
          <p:cNvPr id="21" name="Shape 19"/>
          <p:cNvSpPr/>
          <p:nvPr/>
        </p:nvSpPr>
        <p:spPr>
          <a:xfrm>
            <a:off x="685800" y="4526280"/>
            <a:ext cx="2926080" cy="566928"/>
          </a:xfrm>
          <a:prstGeom prst="roundRect">
            <a:avLst>
              <a:gd name="adj" fmla="val 8065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469087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Limited social variables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749040" y="4526280"/>
            <a:ext cx="7726680" cy="566928"/>
          </a:xfrm>
          <a:prstGeom prst="roundRect">
            <a:avLst>
              <a:gd name="adj" fmla="val 8065"/>
            </a:avLst>
          </a:prstGeom>
          <a:solidFill>
            <a:srgbClr val="E9F3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50208" y="46725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</a:rPr>
              <a:t>Add external data if feasible; state limitations clearly</a:t>
            </a:r>
            <a:endParaRPr lang="en-US" sz="1230" dirty="0"/>
          </a:p>
        </p:txBody>
      </p:sp>
      <p:pic>
        <p:nvPicPr>
          <p:cNvPr id="25" name="Image 0" descr="/mnt/data/fertility_ppt_assets/missingn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4149" y="5532120"/>
            <a:ext cx="1201783" cy="8412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Complete Project Workflow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3"/>
                </a:solidFill>
              </a:rPr>
              <a:t>From question to final product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2423160"/>
            <a:ext cx="1417320" cy="1051560"/>
          </a:xfrm>
          <a:prstGeom prst="chevron">
            <a:avLst/>
          </a:prstGeom>
          <a:solidFill>
            <a:srgbClr val="2F80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263347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Problem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367588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</a:rPr>
              <a:t>Define fertility &amp; life expectancy questions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221992" y="2423160"/>
            <a:ext cx="1417320" cy="1051560"/>
          </a:xfrm>
          <a:prstGeom prst="chevron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95144" y="263347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Data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176272" y="367588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</a:rPr>
              <a:t>Load 2000–2024 country-year dataset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849624" y="2423160"/>
            <a:ext cx="1417320" cy="1051560"/>
          </a:xfrm>
          <a:prstGeom prst="chevron">
            <a:avLst/>
          </a:prstGeom>
          <a:solidFill>
            <a:srgbClr val="2F80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22776" y="263347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EDA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03904" y="367588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</a:rPr>
              <a:t>Regional trends + life expectancy patterns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77256" y="2423160"/>
            <a:ext cx="1417320" cy="1051560"/>
          </a:xfrm>
          <a:prstGeom prst="chevron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50408" y="263347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Models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31536" y="367588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</a:rPr>
              <a:t>Baseline → Ridge/RF/GB models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104888" y="2423160"/>
            <a:ext cx="1417320" cy="1051560"/>
          </a:xfrm>
          <a:prstGeom prst="chevron">
            <a:avLst/>
          </a:prstGeom>
          <a:solidFill>
            <a:srgbClr val="2F80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78040" y="263347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Validation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059168" y="367588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</a:rPr>
              <a:t>Time holdout + country GroupKFold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732520" y="2423160"/>
            <a:ext cx="1417320" cy="1051560"/>
          </a:xfrm>
          <a:prstGeom prst="chevron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05672" y="263347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Interpret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686800" y="367588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</a:rPr>
              <a:t>Feature importance + regional error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0360152" y="2423160"/>
            <a:ext cx="1417320" cy="1051560"/>
          </a:xfrm>
          <a:prstGeom prst="chevron">
            <a:avLst/>
          </a:prstGeom>
          <a:solidFill>
            <a:srgbClr val="2F80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433304" y="263347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Capstone II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314432" y="367588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</a:rPr>
              <a:t>Simulation + dashboard + final report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85800" y="50749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673"/>
                </a:solidFill>
              </a:rPr>
              <a:t>This workflow shows the complete two-semester data science pipeline: data collection, cleaning, preprocessing, modeling, evaluation, interpretation, and final deliverable.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Capstone I and II Plans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3"/>
                </a:solidFill>
              </a:rPr>
              <a:t>Calendar-style timeline and deliverables</a:t>
            </a:r>
            <a:endParaRPr lang="en-US" sz="1050" dirty="0"/>
          </a:p>
        </p:txBody>
      </p:sp>
      <p:pic>
        <p:nvPicPr>
          <p:cNvPr id="5" name="Image 0" descr="/mnt/data/Fertility_Capstone_Timeline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4691" y="1005840"/>
            <a:ext cx="9857858" cy="5074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556248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Timeline separates Capstone I proposal work from Capstone II modeling, validation, simulation, and final deliverables.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Final Product / Contribution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3"/>
                </a:solidFill>
              </a:rPr>
              <a:t>What the project will produce by the end of Capstone II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5349240" cy="4480560"/>
          </a:xfrm>
          <a:prstGeom prst="roundRect">
            <a:avLst/>
          </a:prstGeom>
          <a:solidFill>
            <a:srgbClr val="E9F3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63640" y="1234440"/>
            <a:ext cx="5349240" cy="4480560"/>
          </a:xfrm>
          <a:prstGeom prst="roundRect">
            <a:avLst/>
          </a:prstGeom>
          <a:solidFill>
            <a:srgbClr val="EAF7F4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813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Final products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901952"/>
            <a:ext cx="470916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Validated fertility-rate prediction model.
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Life-expectancy prediction model for comparison.
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Feature-importance and regional error analysis.
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Simulation tool for fertility-related scenarios.
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Dashboard or visualization report.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14813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Contribution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7960" y="1901952"/>
            <a:ext cx="470916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Combines global country-year data with regional interpretation.
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Moves beyond simple trends by comparing models and validation strategies.
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Gives planners a clear way to compare countries, regions, and scenarios.
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Useful for public-health researchers, policymakers, NGOs, and students.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5146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Questions?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3520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6F3EF"/>
                </a:solidFill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DATA4381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Fertility Rates Using WHO Global Health Indicators</dc:title>
  <dc:subject>Fertility and Life Expectancy Modeling</dc:subject>
  <dc:creator>Angela R., Dat D., Ishaq A., Oluwateniola T.</dc:creator>
  <cp:lastModifiedBy>Angela R., Dat D., Ishaq A., Oluwateniola T.</cp:lastModifiedBy>
  <cp:revision>1</cp:revision>
  <dcterms:created xsi:type="dcterms:W3CDTF">2026-10-07T20:10:09Z</dcterms:created>
  <dcterms:modified xsi:type="dcterms:W3CDTF">2026-10-07T20:10:09Z</dcterms:modified>
</cp:coreProperties>
</file>